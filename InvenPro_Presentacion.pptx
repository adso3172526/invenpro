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63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371600" cy="1371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371600" cy="13716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1051560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InvenPro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251960"/>
            <a:ext cx="105156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200" b="0">
                <a:solidFill>
                  <a:srgbClr val="0EA5E9"/>
                </a:solidFill>
                <a:latin typeface="Calibri"/>
              </a:rPr>
              <a:t>Sistema de Inventario y Punto de Venta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892040"/>
            <a:ext cx="105156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Arquitectura, tecnologias y diseno orientado a objetos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035040"/>
            <a:ext cx="10515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Documento tecnico del proyecto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Calibri"/>
              </a:rPr>
              <a:t>CONTENIDO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486400" cy="4572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2563EB"/>
                </a:solidFill>
                <a:latin typeface="Calibri"/>
              </a:rPr>
              <a:t>•  </a:t>
            </a:r>
            <a:r>
              <a:rPr sz="1700" b="1">
                <a:solidFill>
                  <a:srgbClr val="0F172A"/>
                </a:solidFill>
                <a:latin typeface="Calibri"/>
              </a:rPr>
              <a:t>Arquitectura general  </a:t>
            </a:r>
            <a:r>
              <a:rPr sz="1600" b="0">
                <a:solidFill>
                  <a:srgbClr val="64748B"/>
                </a:solidFill>
                <a:latin typeface="Calibri"/>
              </a:rPr>
              <a:t>vision de las tres capas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2563EB"/>
                </a:solidFill>
                <a:latin typeface="Calibri"/>
              </a:rPr>
              <a:t>•  </a:t>
            </a:r>
            <a:r>
              <a:rPr sz="1700" b="1">
                <a:solidFill>
                  <a:srgbClr val="0F172A"/>
                </a:solidFill>
                <a:latin typeface="Calibri"/>
              </a:rPr>
              <a:t>Base de datos  </a:t>
            </a:r>
            <a:r>
              <a:rPr sz="1600" b="0">
                <a:solidFill>
                  <a:srgbClr val="64748B"/>
                </a:solidFill>
                <a:latin typeface="Calibri"/>
              </a:rPr>
              <a:t>PostgreSQL sobre Supabase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2563EB"/>
                </a:solidFill>
                <a:latin typeface="Calibri"/>
              </a:rPr>
              <a:t>•  </a:t>
            </a:r>
            <a:r>
              <a:rPr sz="1700" b="1">
                <a:solidFill>
                  <a:srgbClr val="0F172A"/>
                </a:solidFill>
                <a:latin typeface="Calibri"/>
              </a:rPr>
              <a:t>Frontend  </a:t>
            </a:r>
            <a:r>
              <a:rPr sz="1600" b="0">
                <a:solidFill>
                  <a:srgbClr val="64748B"/>
                </a:solidFill>
                <a:latin typeface="Calibri"/>
              </a:rPr>
              <a:t>React 18 + Tailwind, sin bundler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2563EB"/>
                </a:solidFill>
                <a:latin typeface="Calibri"/>
              </a:rPr>
              <a:t>•  </a:t>
            </a:r>
            <a:r>
              <a:rPr sz="1700" b="1">
                <a:solidFill>
                  <a:srgbClr val="0F172A"/>
                </a:solidFill>
                <a:latin typeface="Calibri"/>
              </a:rPr>
              <a:t>Backend  </a:t>
            </a:r>
            <a:r>
              <a:rPr sz="1600" b="0">
                <a:solidFill>
                  <a:srgbClr val="64748B"/>
                </a:solidFill>
                <a:latin typeface="Calibri"/>
              </a:rPr>
              <a:t>Supabase: Auth, Realtime, Edge Functions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463040"/>
            <a:ext cx="5486400" cy="4572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2563EB"/>
                </a:solidFill>
                <a:latin typeface="Calibri"/>
              </a:rPr>
              <a:t>•  </a:t>
            </a:r>
            <a:r>
              <a:rPr sz="1700" b="1">
                <a:solidFill>
                  <a:srgbClr val="0F172A"/>
                </a:solidFill>
                <a:latin typeface="Calibri"/>
              </a:rPr>
              <a:t>Stack tecnologico  </a:t>
            </a:r>
            <a:r>
              <a:rPr sz="1600" b="0">
                <a:solidFill>
                  <a:srgbClr val="64748B"/>
                </a:solidFill>
                <a:latin typeface="Calibri"/>
              </a:rPr>
              <a:t>librerias y su proposito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2563EB"/>
                </a:solidFill>
                <a:latin typeface="Calibri"/>
              </a:rPr>
              <a:t>•  </a:t>
            </a:r>
            <a:r>
              <a:rPr sz="1700" b="1">
                <a:solidFill>
                  <a:srgbClr val="0F172A"/>
                </a:solidFill>
                <a:latin typeface="Calibri"/>
              </a:rPr>
              <a:t>Programacion Orientada a Objetos  </a:t>
            </a:r>
            <a:r>
              <a:rPr sz="1600" b="0">
                <a:solidFill>
                  <a:srgbClr val="64748B"/>
                </a:solidFill>
                <a:latin typeface="Calibri"/>
              </a:rPr>
              <a:t>modelos y servicios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2563EB"/>
                </a:solidFill>
                <a:latin typeface="Calibri"/>
              </a:rPr>
              <a:t>•  </a:t>
            </a:r>
            <a:r>
              <a:rPr sz="1700" b="1">
                <a:solidFill>
                  <a:srgbClr val="0F172A"/>
                </a:solidFill>
                <a:latin typeface="Calibri"/>
              </a:rPr>
              <a:t>Principios SOLID  </a:t>
            </a:r>
            <a:r>
              <a:rPr sz="1600" b="0">
                <a:solidFill>
                  <a:srgbClr val="64748B"/>
                </a:solidFill>
                <a:latin typeface="Calibri"/>
              </a:rPr>
              <a:t>donde se aplicaron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2563EB"/>
                </a:solidFill>
                <a:latin typeface="Calibri"/>
              </a:rPr>
              <a:t>•  </a:t>
            </a:r>
            <a:r>
              <a:rPr sz="1700" b="1">
                <a:solidFill>
                  <a:srgbClr val="0F172A"/>
                </a:solidFill>
                <a:latin typeface="Calibri"/>
              </a:rPr>
              <a:t>Patrones de diseno  </a:t>
            </a:r>
            <a:r>
              <a:rPr sz="1600" b="0">
                <a:solidFill>
                  <a:srgbClr val="64748B"/>
                </a:solidFill>
                <a:latin typeface="Calibri"/>
              </a:rPr>
              <a:t>Repository, Observer, Adapter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InvenPro · Sistema de Inventario y POS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Calibri"/>
              </a:rPr>
              <a:t>VISION GLOBAL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Arquitectura general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33832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82296" cy="2011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56816"/>
            <a:ext cx="30175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Cliente (Navegador)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95728"/>
            <a:ext cx="2999232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React 18 + Babel Standalone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Tailwind CSS · Chart.js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SheetJS · html5-qrcode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Componentes por dominio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JSX compilado en el navegador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828800"/>
            <a:ext cx="33832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82296" cy="201168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956816"/>
            <a:ext cx="30175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Supabase (Backend)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395728"/>
            <a:ext cx="2999232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API REST (PostgREST)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Auth · Realtime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Edge Functions (Deno)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RPC · pg_cron · Vault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Capa de servicios (DB.*)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5320" y="1828800"/>
            <a:ext cx="33832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828800"/>
            <a:ext cx="82296" cy="2011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956816"/>
            <a:ext cx="30175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PostgreSQL (Datos)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395728"/>
            <a:ext cx="2999232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14 tablas + 4 vistas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Row Level Security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Funciones PL/pgSQL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Realtime (postgres_changes)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Indices y restricciones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041648" y="2651760"/>
            <a:ext cx="384048" cy="384048"/>
          </a:xfrm>
          <a:prstGeom prst="rightArrow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7927848" y="2651760"/>
            <a:ext cx="384048" cy="384048"/>
          </a:xfrm>
          <a:prstGeom prst="rightArrow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114800"/>
            <a:ext cx="111556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Flujo: </a:t>
            </a:r>
            <a:r>
              <a:rPr sz="1400" b="0">
                <a:solidFill>
                  <a:srgbClr val="64748B"/>
                </a:solidFill>
                <a:latin typeface="Calibri"/>
              </a:rPr>
              <a:t>el navegador consume la capa de servicios de Supabase; los cambios se propagan en vivo por Realtime a todos los clientes.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800600"/>
            <a:ext cx="1115568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Calibri"/>
              </a:rPr>
              <a:t>Sin servidor propio ni bundler: </a:t>
            </a:r>
            <a:r>
              <a:rPr sz="1350" b="0">
                <a:solidFill>
                  <a:srgbClr val="64748B"/>
                </a:solidFill>
                <a:latin typeface="Calibri"/>
              </a:rPr>
              <a:t>la logica de negocio vive en clases del lado cliente (data.js) y en funciones/RPC del lado servidor. Es una arquitectura BaaS (Backend as a Service).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InvenPro · Sistema de Inventario y POS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Calibri"/>
              </a:rPr>
              <a:t>PERSISTENCIA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Base de datos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35661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82296" cy="23317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45336"/>
            <a:ext cx="3200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Motor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84248"/>
            <a:ext cx="3182112" cy="1691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PostgreSQL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Gestionado por Supabase (BaaS)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API REST autogenerada (PostgREST)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Acceso via cliente supabase-js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17320"/>
            <a:ext cx="35661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417320"/>
            <a:ext cx="82296" cy="2331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545336"/>
            <a:ext cx="3200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Estructura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984248"/>
            <a:ext cx="3182112" cy="1691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10 tablas de negocio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productos, facturas, ingresos,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turnos, proveedores, cajeros...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4 vistas de agregacion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ventas_mes, top_productos...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1417320"/>
            <a:ext cx="35661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417320"/>
            <a:ext cx="82296" cy="2331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545336"/>
            <a:ext cx="3200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Caracteristicas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984248"/>
            <a:ext cx="3182112" cy="1691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Row Level Security (RLS)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RPC: increment_stock /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decrement_stock (atomico)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Realtime (postgres_changes)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Hash SHA-256 de contrasenas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114800"/>
            <a:ext cx="1115568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Integridad y concurrencia:  </a:t>
            </a:r>
            <a:r>
              <a:rPr sz="1400" b="0">
                <a:solidFill>
                  <a:srgbClr val="64748B"/>
                </a:solidFill>
                <a:latin typeface="Calibri"/>
              </a:rPr>
              <a:t>el ajuste de inventario se hace con funciones RPC en la base (no en el cliente), garantizando operaciones atomicas al vender o ingresar mercancia. Un indice unico parcial asegura un solo turno abierto por cajero.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InvenPro · Sistema de Inventario y POS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Calibri"/>
              </a:rPr>
              <a:t>CAPA DE PRESENTACION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577840" cy="4572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React 18 (via CDN):  </a:t>
            </a:r>
            <a:r>
              <a:rPr sz="1400" b="0">
                <a:solidFill>
                  <a:srgbClr val="64748B"/>
                </a:solidFill>
                <a:latin typeface="Calibri"/>
              </a:rPr>
              <a:t>UI declarativa por componentes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Babel Standalone:  </a:t>
            </a:r>
            <a:r>
              <a:rPr sz="1400" b="0">
                <a:solidFill>
                  <a:srgbClr val="64748B"/>
                </a:solidFill>
                <a:latin typeface="Calibri"/>
              </a:rPr>
              <a:t>compila JSX en el navegador, sin bundler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Tailwind CSS v3 (prefijo tw-):  </a:t>
            </a:r>
            <a:r>
              <a:rPr sz="1400" b="0">
                <a:solidFill>
                  <a:srgbClr val="64748B"/>
                </a:solidFill>
                <a:latin typeface="Calibri"/>
              </a:rPr>
              <a:t>diseno responsive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CSS propio:  </a:t>
            </a:r>
            <a:r>
              <a:rPr sz="1400" b="0">
                <a:solidFill>
                  <a:srgbClr val="64748B"/>
                </a:solidFill>
                <a:latin typeface="Calibri"/>
              </a:rPr>
              <a:t>tokens y tema claro / oscuro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Hooks:  </a:t>
            </a:r>
            <a:r>
              <a:rPr sz="1400" b="0">
                <a:solidFill>
                  <a:srgbClr val="64748B"/>
                </a:solidFill>
                <a:latin typeface="Calibri"/>
              </a:rPr>
              <a:t>useState, useMemo, useEffect, useRealtimeSync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417320"/>
            <a:ext cx="5166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92240" y="1417320"/>
            <a:ext cx="82296" cy="19659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1545336"/>
            <a:ext cx="4800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Librerias de apoyo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984248"/>
            <a:ext cx="4782312" cy="13258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Chart.js 4  —  graficos del dashboard y reportes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SheetJS (xlsx)  —  exportar a Excel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html5-qrcode  —  escaner de codigos de barras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3520440"/>
            <a:ext cx="51663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3520440"/>
            <a:ext cx="82296" cy="2194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3648456"/>
            <a:ext cx="4800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Componentes por dominio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4087368"/>
            <a:ext cx="4782312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Dashboard · Inventario · Ingreso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Vencimientos · Proveedores · Cajeros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POS (cajero) · Reportes · Ajustes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Cada modulo en su propio archivo .jsx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97680"/>
            <a:ext cx="5577840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Calibri"/>
              </a:rPr>
              <a:t>Estrategia responsive: </a:t>
            </a:r>
            <a:r>
              <a:rPr sz="1350" b="0">
                <a:solidFill>
                  <a:srgbClr val="64748B"/>
                </a:solidFill>
                <a:latin typeface="Calibri"/>
              </a:rPr>
              <a:t>utilidades Tailwind en el JSX (colapsar columnas, mostrar/ocultar, tarjetas en movil) sobre una base de CSS para estructura y tokens.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InvenPro · Sistema de Inventario y POS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Calibri"/>
              </a:rPr>
              <a:t>CAPA DE SERVICIOS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Backend  —  Supabase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3566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82296" cy="2286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45336"/>
            <a:ext cx="3200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Datos y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84248"/>
            <a:ext cx="3182112" cy="1645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PostgreSQL + PostgREST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API REST autogenerada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RPC para logica transaccional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(increment/decrement stock)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17320"/>
            <a:ext cx="3566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417320"/>
            <a:ext cx="82296" cy="2286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545336"/>
            <a:ext cx="3200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Auth y Realtime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984248"/>
            <a:ext cx="3182112" cy="1645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Login contra usuarios_sistema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Contrasenas con hash SHA-256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Realtime: canal unico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postgres_changes en las tablas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1417320"/>
            <a:ext cx="3566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417320"/>
            <a:ext cx="82296" cy="2286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545336"/>
            <a:ext cx="3200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Edge Functions (Deno)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984248"/>
            <a:ext cx="3182112" cy="1645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enviar-alerta (TypeScript)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Correo de vencimientos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Gmail SMTP (denomailer)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pg_cron + pg_net (envio diario)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Vault para secretos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069080"/>
            <a:ext cx="1115568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Backend as a Service: </a:t>
            </a:r>
            <a:r>
              <a:rPr sz="1400" b="0">
                <a:solidFill>
                  <a:srgbClr val="64748B"/>
                </a:solidFill>
                <a:latin typeface="Calibri"/>
              </a:rPr>
              <a:t>no hay servidor propio que mantener. La logica se reparte entre la capa de servicios del cliente (clases en data.js), las funciones de la base (RPC) y las Edge Functions serverless para tareas fuera del navegador (envio de correos, cron).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InvenPro · Sistema de Inventario y POS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Calibri"/>
              </a:rPr>
              <a:t>RESUMEN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Stack tecnologico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1556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4754880"/>
              </a:tblGrid>
              <a:tr h="50800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Capa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Tecnologia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Proposito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F172A"/>
                          </a:solidFill>
                        </a:rPr>
                        <a:t>Base de datos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64748B"/>
                          </a:solidFill>
                        </a:rPr>
                        <a:t>PostgreSQL (Supabase)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64748B"/>
                          </a:solidFill>
                        </a:rPr>
                        <a:t>Persistencia, vistas, RPC, RLS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F172A"/>
                          </a:solidFill>
                        </a:rPr>
                        <a:t>Backend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64748B"/>
                          </a:solidFill>
                        </a:rPr>
                        <a:t>Supabase (Auth, Realtime, Storage)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64748B"/>
                          </a:solidFill>
                        </a:rPr>
                        <a:t>API REST, autenticacion, sincronizacion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F172A"/>
                          </a:solidFill>
                        </a:rPr>
                        <a:t>Serverless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64748B"/>
                          </a:solidFill>
                        </a:rPr>
                        <a:t>Edge Functions (Deno / TypeScript)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64748B"/>
                          </a:solidFill>
                        </a:rPr>
                        <a:t>Envio de correos de alerta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F172A"/>
                          </a:solidFill>
                        </a:rPr>
                        <a:t>Automatizacion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64748B"/>
                          </a:solidFill>
                        </a:rPr>
                        <a:t>pg_cron + pg_net + Vault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64748B"/>
                          </a:solidFill>
                        </a:rPr>
                        <a:t>Alertas diarias programadas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F172A"/>
                          </a:solidFill>
                        </a:rP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64748B"/>
                          </a:solidFill>
                        </a:rPr>
                        <a:t>React 18 + Babel Standalone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64748B"/>
                          </a:solidFill>
                        </a:rPr>
                        <a:t>UI por componentes, sin bundler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F172A"/>
                          </a:solidFill>
                        </a:rPr>
                        <a:t>Estilos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64748B"/>
                          </a:solidFill>
                        </a:rPr>
                        <a:t>Tailwind CSS v3 + CSS propio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64748B"/>
                          </a:solidFill>
                        </a:rPr>
                        <a:t>Responsive y tema claro/oscuro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F172A"/>
                          </a:solidFill>
                        </a:rPr>
                        <a:t>Librerias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64748B"/>
                          </a:solidFill>
                        </a:rPr>
                        <a:t>Chart.js · SheetJS · html5-qrcode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64748B"/>
                          </a:solidFill>
                        </a:rPr>
                        <a:t>Graficos, Excel, escaner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F172A"/>
                          </a:solidFill>
                        </a:rPr>
                        <a:t>Lenguajes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64748B"/>
                          </a:solidFill>
                        </a:rPr>
                        <a:t>JavaScript (ES6+), SQL, TypeScript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64748B"/>
                          </a:solidFill>
                        </a:rPr>
                        <a:t>Cliente, base de datos, serverless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InvenPro · Sistema de Inventario y POS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Calibri"/>
              </a:rPr>
              <a:t>DISENO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Programacion Orientada a Objetos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1556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La capa de dominio (data.js) encapsula entidades y acceso a datos con clases ES6.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36576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82296" cy="2743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02535"/>
            <a:ext cx="32918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6 Modelos (entidades)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41447"/>
            <a:ext cx="3273552" cy="2103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Producto · Usuario · Cajero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Proveedor · Turno · Factura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/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Encapsulan datos + logica de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dominio con getters calculados: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stockBajo, valorTotal, esAdmin,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abierto, initials, cantidadItems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874519"/>
            <a:ext cx="36576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874519"/>
            <a:ext cx="82296" cy="27432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002535"/>
            <a:ext cx="32918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8 Servicios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441447"/>
            <a:ext cx="3273552" cy="2103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AuthService · ProductoService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FacturaService · TurnoService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CajeroService · ProveedorService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IngresoService · ConfigService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/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Encapsulan las operaciones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de base de datos (metodos async)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874519"/>
            <a:ext cx="35661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874519"/>
            <a:ext cx="82296" cy="2743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002535"/>
            <a:ext cx="3200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Infraestructura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441447"/>
            <a:ext cx="3182112" cy="2103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DataStore  —  agrega e hidrata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el estado de la aplicacion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/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EventBus  —  eventos (pub/sub)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RealtimeManager  —  sincroniza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/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camelize / snakify  —  adaptan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snake_case (BD) a camelCase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46320"/>
            <a:ext cx="1115568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Calibri"/>
              </a:rPr>
              <a:t>Conceptos aplicados:  </a:t>
            </a:r>
            <a:r>
              <a:rPr sz="1350" b="0">
                <a:solidFill>
                  <a:srgbClr val="64748B"/>
                </a:solidFill>
                <a:latin typeface="Calibri"/>
              </a:rPr>
              <a:t>encapsulacion (constructor + this), abstraccion (los metodos ocultan las llamadas a Supabase), propiedades calculadas (get) e instanciacion uniforme (camelize -&gt; new Modelo).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InvenPro · Sistema de Inventario y POS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Calibri"/>
              </a:rPr>
              <a:t>BUENAS PRACTICAS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Principios SOLID  —  donde se aplicaron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1556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8138160"/>
              </a:tblGrid>
              <a:tr h="79248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Principio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Aplicacion en InvenPro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2563EB"/>
                          </a:solidFill>
                        </a:rPr>
                        <a:t>S — Responsabilidad unica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64748B"/>
                          </a:solidFill>
                        </a:rPr>
                        <a:t>Cada servicio tiene una sola razon de cambio (AuthService=login, ProductoService=productos...). Los modelos solo modelan datos+dominio. El panel admin se dividio en un archivo por modulo.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16A34A"/>
                          </a:solidFill>
                        </a:rPr>
                        <a:t>O — Abierto / Cerrado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64748B"/>
                          </a:solidFill>
                        </a:rPr>
                        <a:t>Se agregan nuevos modelos o servicios sin modificar los existentes. Los presets de IA y la deteccion de proveedor se extienden por configuracion, no tocando el codigo.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D97706"/>
                          </a:solidFill>
                        </a:rPr>
                        <a:t>L — Sustitucion de Liskov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64748B"/>
                          </a:solidFill>
                        </a:rPr>
                        <a:t>camelize produce instancias uniformes; cualquier Producto o Factura es intercambiable donde se espera esa entidad, sin romper el comportamiento.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0EA5E9"/>
                          </a:solidFill>
                        </a:rPr>
                        <a:t>I — Segregacion de interfaces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64748B"/>
                          </a:solidFill>
                        </a:rPr>
                        <a:t>API por espacios de nombres (DB.auth, DB.productos, DB.turnos...). Cada componente usa solo el servicio que necesita, no un objeto monolitico.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DC2626"/>
                          </a:solidFill>
                        </a:rPr>
                        <a:t>D — Inversion de dependencias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64748B"/>
                          </a:solidFill>
                        </a:rPr>
                        <a:t>Los componentes dependen de la abstraccion window.DB (capa de servicios) y de EventBus, no de llamadas directas a Supabase.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InvenPro · Sistema de Inventario y POS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Calibri"/>
              </a:rPr>
              <a:t>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Patrones de diseno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82296" cy="1417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91056"/>
            <a:ext cx="51206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Repository / Facade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29968"/>
            <a:ext cx="5102352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DataStore + capa de servicios (DB) abstraen el acceso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a datos: los componentes no consultan la BD directamente.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46304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463040"/>
            <a:ext cx="82296" cy="14173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91056"/>
            <a:ext cx="51206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Observer / Pub-Sub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29968"/>
            <a:ext cx="5102352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EventBus (emit / on) desacopla la sincronizacion Realtime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de los componentes que reaccionan a los cambios.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06324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063240"/>
            <a:ext cx="82296" cy="14173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91256"/>
            <a:ext cx="51206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Adapter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630168"/>
            <a:ext cx="5102352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camelize / snakify traducen entre snake_case (base de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datos) y camelCase (JavaScript) de forma transparente.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06324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063240"/>
            <a:ext cx="82296" cy="14173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191256"/>
            <a:ext cx="51206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Singleton / Service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630168"/>
            <a:ext cx="5102352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Cliente Supabase unico (window.db) y RealtimeManager con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un solo canal; un servicio por entidad del dominio.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00600"/>
            <a:ext cx="111556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Resultado: </a:t>
            </a:r>
            <a:r>
              <a:rPr sz="1400" b="0">
                <a:solidFill>
                  <a:srgbClr val="64748B"/>
                </a:solidFill>
                <a:latin typeface="Calibri"/>
              </a:rPr>
              <a:t>codigo modular, con responsabilidades separadas y bajo acoplamiento, facil de mantener y extender pese a no usar bundler ni framework de build.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InvenPro · Sistema de Inventario y POS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63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Resumen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063240"/>
            <a:ext cx="10607040" cy="2377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0EA5E9"/>
                </a:solidFill>
                <a:latin typeface="Calibri"/>
              </a:rPr>
              <a:t>Base de datos:  </a:t>
            </a:r>
            <a:r>
              <a:rPr sz="1700" b="0">
                <a:solidFill>
                  <a:srgbClr val="CBD5E1"/>
                </a:solidFill>
                <a:latin typeface="Calibri"/>
              </a:rPr>
              <a:t>PostgreSQL sobre Supabase (vistas, RPC, RLS, Realtime).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0EA5E9"/>
                </a:solidFill>
                <a:latin typeface="Calibri"/>
              </a:rPr>
              <a:t>Frontend:  </a:t>
            </a:r>
            <a:r>
              <a:rPr sz="1700" b="0">
                <a:solidFill>
                  <a:srgbClr val="CBD5E1"/>
                </a:solidFill>
                <a:latin typeface="Calibri"/>
              </a:rPr>
              <a:t>React 18 + Babel + Tailwind, sin bundler.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0EA5E9"/>
                </a:solidFill>
                <a:latin typeface="Calibri"/>
              </a:rPr>
              <a:t>Backend:  </a:t>
            </a:r>
            <a:r>
              <a:rPr sz="1700" b="0">
                <a:solidFill>
                  <a:srgbClr val="CBD5E1"/>
                </a:solidFill>
                <a:latin typeface="Calibri"/>
              </a:rPr>
              <a:t>Supabase (Auth, Realtime, Edge Functions en Deno).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0EA5E9"/>
                </a:solidFill>
                <a:latin typeface="Calibri"/>
              </a:rPr>
              <a:t>POO:  </a:t>
            </a:r>
            <a:r>
              <a:rPr sz="1700" b="0">
                <a:solidFill>
                  <a:srgbClr val="CBD5E1"/>
                </a:solidFill>
                <a:latin typeface="Calibri"/>
              </a:rPr>
              <a:t>6 modelos + 8 servicios + DataStore en data.js.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0EA5E9"/>
                </a:solidFill>
                <a:latin typeface="Calibri"/>
              </a:rPr>
              <a:t>SOLID:  </a:t>
            </a:r>
            <a:r>
              <a:rPr sz="1700" b="0">
                <a:solidFill>
                  <a:srgbClr val="CBD5E1"/>
                </a:solidFill>
                <a:latin typeface="Calibri"/>
              </a:rPr>
              <a:t>responsabilidad unica, interfaces segregadas e inversion de dependencias.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126480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InvenPro · Documento tecnico del proyecto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